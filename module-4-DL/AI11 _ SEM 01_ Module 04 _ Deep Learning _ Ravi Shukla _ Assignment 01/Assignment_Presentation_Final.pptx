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chemeClr val="accent3">
                    <a:lumMod val="75000"/>
                  </a:schemeClr>
                </a:solidFill>
              </a:rPr>
              <a:t>CNN Techniques Comparison</a:t>
            </a:r>
          </a:p>
        </p:txBody>
      </p:sp>
      <p:sp>
        <p:nvSpPr>
          <p:cNvPr id="3" name="Subtitle 2"/>
          <p:cNvSpPr>
            <a:spLocks noGrp="1"/>
          </p:cNvSpPr>
          <p:nvPr>
            <p:ph type="subTitle" idx="1"/>
          </p:nvPr>
        </p:nvSpPr>
        <p:spPr/>
        <p:txBody>
          <a:bodyPr/>
          <a:lstStyle/>
          <a:p>
            <a:r>
              <a:rPr dirty="0">
                <a:solidFill>
                  <a:schemeClr val="accent6">
                    <a:lumMod val="75000"/>
                  </a:schemeClr>
                </a:solidFill>
              </a:rPr>
              <a:t>Deep Learning Assignment</a:t>
            </a:r>
          </a:p>
          <a:p>
            <a:r>
              <a:rPr dirty="0">
                <a:solidFill>
                  <a:schemeClr val="accent6">
                    <a:lumMod val="75000"/>
                  </a:schemeClr>
                </a:solidFill>
              </a:rPr>
              <a:t>Intel Image Classification Dataset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6">
                    <a:lumMod val="75000"/>
                  </a:schemeClr>
                </a:solidFill>
              </a:rPr>
              <a:t>Model Comparison Results</a:t>
            </a:r>
          </a:p>
        </p:txBody>
      </p:sp>
      <p:graphicFrame>
        <p:nvGraphicFramePr>
          <p:cNvPr id="3" name="Table 2"/>
          <p:cNvGraphicFramePr>
            <a:graphicFrameLocks noGrp="1"/>
          </p:cNvGraphicFramePr>
          <p:nvPr>
            <p:extLst>
              <p:ext uri="{D42A27DB-BD31-4B8C-83A1-F6EECF244321}">
                <p14:modId xmlns:p14="http://schemas.microsoft.com/office/powerpoint/2010/main" val="70541102"/>
              </p:ext>
            </p:extLst>
          </p:nvPr>
        </p:nvGraphicFramePr>
        <p:xfrm>
          <a:off x="457200" y="1371600"/>
          <a:ext cx="8229600" cy="3657600"/>
        </p:xfrm>
        <a:graphic>
          <a:graphicData uri="http://schemas.openxmlformats.org/drawingml/2006/table">
            <a:tbl>
              <a:tblPr firstRow="1" bandRow="1">
                <a:tableStyleId>{00A15C55-8517-42AA-B614-E9B94910E393}</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09600">
                <a:tc>
                  <a:txBody>
                    <a:bodyPr/>
                    <a:lstStyle/>
                    <a:p>
                      <a:r>
                        <a:rPr b="1" dirty="0">
                          <a:solidFill>
                            <a:srgbClr val="FFFF00"/>
                          </a:solidFill>
                        </a:rPr>
                        <a:t>Technique</a:t>
                      </a:r>
                    </a:p>
                  </a:txBody>
                  <a:tcPr/>
                </a:tc>
                <a:tc>
                  <a:txBody>
                    <a:bodyPr/>
                    <a:lstStyle/>
                    <a:p>
                      <a:r>
                        <a:rPr b="1" dirty="0">
                          <a:solidFill>
                            <a:srgbClr val="FFFF00"/>
                          </a:solidFill>
                        </a:rPr>
                        <a:t>Train Accuracy</a:t>
                      </a:r>
                    </a:p>
                  </a:txBody>
                  <a:tcPr/>
                </a:tc>
                <a:tc>
                  <a:txBody>
                    <a:bodyPr/>
                    <a:lstStyle/>
                    <a:p>
                      <a:r>
                        <a:rPr b="1" dirty="0">
                          <a:solidFill>
                            <a:srgbClr val="FFFF00"/>
                          </a:solidFill>
                        </a:rPr>
                        <a:t>Validation Accuracy</a:t>
                      </a:r>
                    </a:p>
                  </a:txBody>
                  <a:tcPr/>
                </a:tc>
                <a:tc>
                  <a:txBody>
                    <a:bodyPr/>
                    <a:lstStyle/>
                    <a:p>
                      <a:r>
                        <a:rPr b="1" dirty="0">
                          <a:solidFill>
                            <a:srgbClr val="FFFF00"/>
                          </a:solidFill>
                        </a:rPr>
                        <a:t>Test Accuracy</a:t>
                      </a:r>
                    </a:p>
                  </a:txBody>
                  <a:tcPr/>
                </a:tc>
                <a:extLst>
                  <a:ext uri="{0D108BD9-81ED-4DB2-BD59-A6C34878D82A}">
                    <a16:rowId xmlns:a16="http://schemas.microsoft.com/office/drawing/2014/main" val="10000"/>
                  </a:ext>
                </a:extLst>
              </a:tr>
              <a:tr h="609600">
                <a:tc>
                  <a:txBody>
                    <a:bodyPr/>
                    <a:lstStyle/>
                    <a:p>
                      <a:r>
                        <a:t>Basic CNN</a:t>
                      </a:r>
                    </a:p>
                  </a:txBody>
                  <a:tcPr/>
                </a:tc>
                <a:tc>
                  <a:txBody>
                    <a:bodyPr/>
                    <a:lstStyle/>
                    <a:p>
                      <a:r>
                        <a:t>86.6%</a:t>
                      </a:r>
                    </a:p>
                  </a:txBody>
                  <a:tcPr/>
                </a:tc>
                <a:tc>
                  <a:txBody>
                    <a:bodyPr/>
                    <a:lstStyle/>
                    <a:p>
                      <a:r>
                        <a:t>80.1%</a:t>
                      </a:r>
                    </a:p>
                  </a:txBody>
                  <a:tcPr/>
                </a:tc>
                <a:tc>
                  <a:txBody>
                    <a:bodyPr/>
                    <a:lstStyle/>
                    <a:p>
                      <a:r>
                        <a:t>79.8%</a:t>
                      </a:r>
                    </a:p>
                  </a:txBody>
                  <a:tcPr/>
                </a:tc>
                <a:extLst>
                  <a:ext uri="{0D108BD9-81ED-4DB2-BD59-A6C34878D82A}">
                    <a16:rowId xmlns:a16="http://schemas.microsoft.com/office/drawing/2014/main" val="10001"/>
                  </a:ext>
                </a:extLst>
              </a:tr>
              <a:tr h="609600">
                <a:tc>
                  <a:txBody>
                    <a:bodyPr/>
                    <a:lstStyle/>
                    <a:p>
                      <a:r>
                        <a:t>Data Augmentation</a:t>
                      </a:r>
                    </a:p>
                  </a:txBody>
                  <a:tcPr/>
                </a:tc>
                <a:tc>
                  <a:txBody>
                    <a:bodyPr/>
                    <a:lstStyle/>
                    <a:p>
                      <a:r>
                        <a:t>79.4%</a:t>
                      </a:r>
                    </a:p>
                  </a:txBody>
                  <a:tcPr/>
                </a:tc>
                <a:tc>
                  <a:txBody>
                    <a:bodyPr/>
                    <a:lstStyle/>
                    <a:p>
                      <a:r>
                        <a:t>78.1%</a:t>
                      </a:r>
                    </a:p>
                  </a:txBody>
                  <a:tcPr/>
                </a:tc>
                <a:tc>
                  <a:txBody>
                    <a:bodyPr/>
                    <a:lstStyle/>
                    <a:p>
                      <a:r>
                        <a:t>81.1%</a:t>
                      </a:r>
                    </a:p>
                  </a:txBody>
                  <a:tcPr/>
                </a:tc>
                <a:extLst>
                  <a:ext uri="{0D108BD9-81ED-4DB2-BD59-A6C34878D82A}">
                    <a16:rowId xmlns:a16="http://schemas.microsoft.com/office/drawing/2014/main" val="10002"/>
                  </a:ext>
                </a:extLst>
              </a:tr>
              <a:tr h="609600">
                <a:tc>
                  <a:txBody>
                    <a:bodyPr/>
                    <a:lstStyle/>
                    <a:p>
                      <a:r>
                        <a:rPr b="1" dirty="0"/>
                        <a:t>VGG16 Best</a:t>
                      </a:r>
                    </a:p>
                  </a:txBody>
                  <a:tcPr/>
                </a:tc>
                <a:tc>
                  <a:txBody>
                    <a:bodyPr/>
                    <a:lstStyle/>
                    <a:p>
                      <a:r>
                        <a:rPr b="1"/>
                        <a:t>92.6%</a:t>
                      </a:r>
                    </a:p>
                  </a:txBody>
                  <a:tcPr/>
                </a:tc>
                <a:tc>
                  <a:txBody>
                    <a:bodyPr/>
                    <a:lstStyle/>
                    <a:p>
                      <a:r>
                        <a:rPr b="1"/>
                        <a:t>86.5%</a:t>
                      </a:r>
                    </a:p>
                  </a:txBody>
                  <a:tcPr/>
                </a:tc>
                <a:tc>
                  <a:txBody>
                    <a:bodyPr/>
                    <a:lstStyle/>
                    <a:p>
                      <a:r>
                        <a:rPr b="1"/>
                        <a:t>86%</a:t>
                      </a:r>
                    </a:p>
                  </a:txBody>
                  <a:tcPr/>
                </a:tc>
                <a:extLst>
                  <a:ext uri="{0D108BD9-81ED-4DB2-BD59-A6C34878D82A}">
                    <a16:rowId xmlns:a16="http://schemas.microsoft.com/office/drawing/2014/main" val="10003"/>
                  </a:ext>
                </a:extLst>
              </a:tr>
              <a:tr h="609600">
                <a:tc>
                  <a:txBody>
                    <a:bodyPr/>
                    <a:lstStyle/>
                    <a:p>
                      <a:r>
                        <a:rPr dirty="0"/>
                        <a:t>Feature Extraction</a:t>
                      </a:r>
                    </a:p>
                  </a:txBody>
                  <a:tcPr/>
                </a:tc>
                <a:tc>
                  <a:txBody>
                    <a:bodyPr/>
                    <a:lstStyle/>
                    <a:p>
                      <a:r>
                        <a:t>-</a:t>
                      </a:r>
                    </a:p>
                  </a:txBody>
                  <a:tcPr/>
                </a:tc>
                <a:tc>
                  <a:txBody>
                    <a:bodyPr/>
                    <a:lstStyle/>
                    <a:p>
                      <a:r>
                        <a:t>-</a:t>
                      </a:r>
                    </a:p>
                  </a:txBody>
                  <a:tcPr/>
                </a:tc>
                <a:tc>
                  <a:txBody>
                    <a:bodyPr/>
                    <a:lstStyle/>
                    <a:p>
                      <a:r>
                        <a:t>-</a:t>
                      </a:r>
                    </a:p>
                  </a:txBody>
                  <a:tcPr/>
                </a:tc>
                <a:extLst>
                  <a:ext uri="{0D108BD9-81ED-4DB2-BD59-A6C34878D82A}">
                    <a16:rowId xmlns:a16="http://schemas.microsoft.com/office/drawing/2014/main" val="10004"/>
                  </a:ext>
                </a:extLst>
              </a:tr>
              <a:tr h="609600">
                <a:tc>
                  <a:txBody>
                    <a:bodyPr/>
                    <a:lstStyle/>
                    <a:p>
                      <a:r>
                        <a:t>Fine Tuning</a:t>
                      </a:r>
                    </a:p>
                  </a:txBody>
                  <a:tcPr/>
                </a:tc>
                <a:tc>
                  <a:txBody>
                    <a:bodyPr/>
                    <a:lstStyle/>
                    <a:p>
                      <a:r>
                        <a:t>-</a:t>
                      </a:r>
                    </a:p>
                  </a:txBody>
                  <a:tcPr/>
                </a:tc>
                <a:tc>
                  <a:txBody>
                    <a:bodyPr/>
                    <a:lstStyle/>
                    <a:p>
                      <a:r>
                        <a:t>-</a:t>
                      </a:r>
                    </a:p>
                  </a:txBody>
                  <a:tcPr/>
                </a:tc>
                <a:tc>
                  <a:txBody>
                    <a:bodyPr/>
                    <a:lstStyle/>
                    <a:p>
                      <a:r>
                        <a:rPr dirty="0"/>
                        <a: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800" dirty="0">
                <a:solidFill>
                  <a:schemeClr val="accent6">
                    <a:lumMod val="75000"/>
                  </a:schemeClr>
                </a:solidFill>
              </a:rPr>
              <a:t>Final Insight</a:t>
            </a:r>
          </a:p>
        </p:txBody>
      </p:sp>
      <p:sp>
        <p:nvSpPr>
          <p:cNvPr id="3" name="Content Placeholder 2"/>
          <p:cNvSpPr>
            <a:spLocks noGrp="1"/>
          </p:cNvSpPr>
          <p:nvPr>
            <p:ph idx="1"/>
          </p:nvPr>
        </p:nvSpPr>
        <p:spPr/>
        <p:txBody>
          <a:bodyPr>
            <a:normAutofit/>
          </a:bodyPr>
          <a:lstStyle/>
          <a:p>
            <a:r>
              <a:rPr sz="2800" dirty="0">
                <a:solidFill>
                  <a:schemeClr val="accent3">
                    <a:lumMod val="75000"/>
                  </a:schemeClr>
                </a:solidFill>
              </a:rPr>
              <a:t>Pretrained VGG16 achieved the best performance as it leverages rich feature representations learned from large datasets. Fine tuning is expected to further enhance accuracy by adapting these features specifically to the target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91</Words>
  <Application>Microsoft Office PowerPoint</Application>
  <PresentationFormat>On-screen Show (4:3)</PresentationFormat>
  <Paragraphs>30</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CNN Techniques Comparison</vt:lpstr>
      <vt:lpstr>Model Comparison Results</vt:lpstr>
      <vt:lpstr>Final Insight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Pawan Mandhan</dc:creator>
  <cp:keywords/>
  <dc:description>generated using python-pptx</dc:description>
  <cp:lastModifiedBy>Pawan Mandhan</cp:lastModifiedBy>
  <cp:revision>2</cp:revision>
  <dcterms:created xsi:type="dcterms:W3CDTF">2013-01-27T09:14:16Z</dcterms:created>
  <dcterms:modified xsi:type="dcterms:W3CDTF">2026-04-24T18:38:02Z</dcterms:modified>
  <cp:category/>
</cp:coreProperties>
</file>