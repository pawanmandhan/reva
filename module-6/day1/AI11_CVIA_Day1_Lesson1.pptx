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463" r:id="rId3"/>
    <p:sldId id="464" r:id="rId4"/>
    <p:sldId id="465" r:id="rId5"/>
    <p:sldId id="466" r:id="rId6"/>
    <p:sldId id="467" r:id="rId7"/>
    <p:sldId id="470" r:id="rId8"/>
    <p:sldId id="471" r:id="rId9"/>
    <p:sldId id="473" r:id="rId10"/>
    <p:sldId id="472" r:id="rId11"/>
    <p:sldId id="474" r:id="rId12"/>
    <p:sldId id="469" r:id="rId13"/>
    <p:sldId id="273" r:id="rId14"/>
  </p:sldIdLst>
  <p:sldSz cx="12192000" cy="6858000"/>
  <p:notesSz cx="6858000" cy="9144000"/>
  <p:embeddedFontLst>
    <p:embeddedFont>
      <p:font typeface="Cambria Math" panose="02040503050406030204" pitchFamily="18" charset="0"/>
      <p:regular r:id="rId16"/>
    </p:embeddedFont>
    <p:embeddedFont>
      <p:font typeface="Roboto Slab" pitchFamily="2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F5F5F5"/>
    <a:srgbClr val="000000"/>
    <a:srgbClr val="990099"/>
    <a:srgbClr val="CC3399"/>
    <a:srgbClr val="5324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6318" autoAdjust="0"/>
  </p:normalViewPr>
  <p:slideViewPr>
    <p:cSldViewPr snapToGrid="0">
      <p:cViewPr varScale="1">
        <p:scale>
          <a:sx n="121" d="100"/>
          <a:sy n="121" d="100"/>
        </p:scale>
        <p:origin x="523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41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A04D3E-AB25-4865-88B1-E5CEDFA4F726}" type="datetimeFigureOut">
              <a:rPr lang="en-IN" smtClean="0"/>
              <a:t>29-05-2026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8B107A-A654-4768-8807-756F0176A7E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9341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285437" y="265677"/>
            <a:ext cx="11621126" cy="6326646"/>
            <a:chOff x="254476" y="265679"/>
            <a:chExt cx="11621126" cy="6326646"/>
          </a:xfrm>
        </p:grpSpPr>
        <p:sp>
          <p:nvSpPr>
            <p:cNvPr id="8" name="Flowchart: Manual Input 5"/>
            <p:cNvSpPr/>
            <p:nvPr userDrawn="1"/>
          </p:nvSpPr>
          <p:spPr>
            <a:xfrm rot="16200000" flipV="1">
              <a:off x="799317" y="-279162"/>
              <a:ext cx="6326646" cy="7416327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3494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3494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3494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349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2" name="Flowchart: Manual Input 5"/>
            <p:cNvSpPr/>
            <p:nvPr userDrawn="1"/>
          </p:nvSpPr>
          <p:spPr>
            <a:xfrm rot="16200000" flipH="1">
              <a:off x="5594106" y="302528"/>
              <a:ext cx="5550769" cy="7012223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3494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3494 h 10000"/>
                <a:gd name="connsiteX0" fmla="*/ 15 w 10015"/>
                <a:gd name="connsiteY0" fmla="*/ 3494 h 10469"/>
                <a:gd name="connsiteX1" fmla="*/ 10015 w 10015"/>
                <a:gd name="connsiteY1" fmla="*/ 0 h 10469"/>
                <a:gd name="connsiteX2" fmla="*/ 10015 w 10015"/>
                <a:gd name="connsiteY2" fmla="*/ 10000 h 10469"/>
                <a:gd name="connsiteX3" fmla="*/ 0 w 10015"/>
                <a:gd name="connsiteY3" fmla="*/ 10469 h 10469"/>
                <a:gd name="connsiteX4" fmla="*/ 15 w 10015"/>
                <a:gd name="connsiteY4" fmla="*/ 3494 h 10469"/>
                <a:gd name="connsiteX0" fmla="*/ 15 w 10015"/>
                <a:gd name="connsiteY0" fmla="*/ 3494 h 10494"/>
                <a:gd name="connsiteX1" fmla="*/ 10015 w 10015"/>
                <a:gd name="connsiteY1" fmla="*/ 0 h 10494"/>
                <a:gd name="connsiteX2" fmla="*/ 9984 w 10015"/>
                <a:gd name="connsiteY2" fmla="*/ 10494 h 10494"/>
                <a:gd name="connsiteX3" fmla="*/ 0 w 10015"/>
                <a:gd name="connsiteY3" fmla="*/ 10469 h 10494"/>
                <a:gd name="connsiteX4" fmla="*/ 15 w 10015"/>
                <a:gd name="connsiteY4" fmla="*/ 3494 h 1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5" h="10494">
                  <a:moveTo>
                    <a:pt x="15" y="3494"/>
                  </a:moveTo>
                  <a:lnTo>
                    <a:pt x="10015" y="0"/>
                  </a:lnTo>
                  <a:cubicBezTo>
                    <a:pt x="10005" y="3498"/>
                    <a:pt x="9994" y="6996"/>
                    <a:pt x="9984" y="10494"/>
                  </a:cubicBezTo>
                  <a:lnTo>
                    <a:pt x="0" y="10469"/>
                  </a:lnTo>
                  <a:lnTo>
                    <a:pt x="15" y="349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1984375"/>
            <a:ext cx="5905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4564063"/>
            <a:ext cx="5905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83" b="37125"/>
          <a:stretch/>
        </p:blipFill>
        <p:spPr>
          <a:xfrm>
            <a:off x="254475" y="3208830"/>
            <a:ext cx="6915786" cy="337519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9" y="379813"/>
            <a:ext cx="2760542" cy="11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703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9" y="379813"/>
            <a:ext cx="2444161" cy="983068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3090333" y="1049867"/>
            <a:ext cx="867833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386667" y="379812"/>
            <a:ext cx="8382000" cy="670055"/>
          </a:xfrm>
        </p:spPr>
        <p:txBody>
          <a:bodyPr>
            <a:normAutofit/>
          </a:bodyPr>
          <a:lstStyle>
            <a:lvl1pPr algn="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254475" y="6502400"/>
            <a:ext cx="11683050" cy="704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3210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Rectangle 1"/>
          <p:cNvSpPr/>
          <p:nvPr userDrawn="1"/>
        </p:nvSpPr>
        <p:spPr>
          <a:xfrm>
            <a:off x="254475" y="262783"/>
            <a:ext cx="3597858" cy="633243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0262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Rectangle 1"/>
          <p:cNvSpPr/>
          <p:nvPr userDrawn="1"/>
        </p:nvSpPr>
        <p:spPr>
          <a:xfrm>
            <a:off x="254475" y="262783"/>
            <a:ext cx="2686688" cy="633243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noFill/>
              </a:ln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03"/>
          <a:stretch/>
        </p:blipFill>
        <p:spPr>
          <a:xfrm>
            <a:off x="245097" y="1534163"/>
            <a:ext cx="2393627" cy="476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244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47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455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294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221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463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232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5522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557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7211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FBAFD22-97B6-4BF3-9496-41E458151A6B}" type="datetimeFigureOut">
              <a:rPr lang="en-US" smtClean="0"/>
              <a:pPr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91579" y="92974"/>
            <a:ext cx="2926334" cy="78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4234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21C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23825" y="138112"/>
            <a:ext cx="11944351" cy="65817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403412" y="1049867"/>
            <a:ext cx="1136525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386667" y="379812"/>
            <a:ext cx="8382000" cy="670055"/>
          </a:xfrm>
        </p:spPr>
        <p:txBody>
          <a:bodyPr>
            <a:normAutofit/>
          </a:bodyPr>
          <a:lstStyle>
            <a:lvl1pPr algn="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17215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38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317672-D273-40A8-9069-31B0837D5743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D3BC5-34EF-44B2-83AC-D5533E46F0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419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8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84" r:id="rId14"/>
    <p:sldLayoutId id="214748368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gif"/><Relationship Id="rId4" Type="http://schemas.openxmlformats.org/officeDocument/2006/relationships/image" Target="../media/image20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6611" y="1754587"/>
            <a:ext cx="6537332" cy="199830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solidFill>
                  <a:schemeClr val="accent2"/>
                </a:solidFill>
                <a:cs typeface="Arial" panose="020B0604020202020204" pitchFamily="34" charset="0"/>
              </a:rPr>
              <a:t>Computer Vision </a:t>
            </a:r>
            <a:r>
              <a:rPr lang="en-US" sz="2800" b="1">
                <a:solidFill>
                  <a:schemeClr val="accent2"/>
                </a:solidFill>
                <a:cs typeface="Arial" panose="020B0604020202020204" pitchFamily="34" charset="0"/>
              </a:rPr>
              <a:t>and Gen AI</a:t>
            </a:r>
            <a:endParaRPr lang="en-US" sz="2800" b="1" dirty="0">
              <a:solidFill>
                <a:schemeClr val="accent2"/>
              </a:solidFill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54994" y="3752894"/>
            <a:ext cx="5905500" cy="762076"/>
          </a:xfrm>
        </p:spPr>
        <p:txBody>
          <a:bodyPr>
            <a:noAutofit/>
          </a:bodyPr>
          <a:lstStyle/>
          <a:p>
            <a:pPr algn="r"/>
            <a:r>
              <a:rPr lang="en-US" sz="20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Bismillah Kani</a:t>
            </a:r>
          </a:p>
          <a:p>
            <a:pPr algn="r"/>
            <a:r>
              <a:rPr lang="en-US" sz="18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Mentor</a:t>
            </a:r>
            <a:endParaRPr lang="en-US" sz="20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5485425" y="6119446"/>
            <a:ext cx="6175069" cy="3526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r>
              <a:rPr lang="en-IN" sz="1600" dirty="0">
                <a:solidFill>
                  <a:schemeClr val="bg1"/>
                </a:solidFill>
                <a:ea typeface="Calibri" panose="020F0502020204030204" pitchFamily="34" charset="0"/>
                <a:cs typeface="Arial" panose="020B0604020202020204" pitchFamily="34" charset="0"/>
              </a:rPr>
              <a:t>www.reva.edu.in</a:t>
            </a: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6646333" y="271291"/>
            <a:ext cx="5267501" cy="579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IN" sz="1400" b="1" dirty="0">
                <a:solidFill>
                  <a:srgbClr val="595959"/>
                </a:solidFill>
              </a:rPr>
              <a:t>REVA Academy for Corporate Excellence (RACE)</a:t>
            </a:r>
          </a:p>
        </p:txBody>
      </p:sp>
      <p:sp>
        <p:nvSpPr>
          <p:cNvPr id="9" name="Title 2"/>
          <p:cNvSpPr txBox="1">
            <a:spLocks/>
          </p:cNvSpPr>
          <p:nvPr/>
        </p:nvSpPr>
        <p:spPr>
          <a:xfrm>
            <a:off x="516611" y="3139065"/>
            <a:ext cx="4127234" cy="579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400" dirty="0">
                <a:solidFill>
                  <a:srgbClr val="595959"/>
                </a:solidFill>
              </a:rPr>
              <a:t>29-05-2026</a:t>
            </a:r>
          </a:p>
        </p:txBody>
      </p:sp>
    </p:spTree>
    <p:extLst>
      <p:ext uri="{BB962C8B-B14F-4D97-AF65-F5344CB8AC3E}">
        <p14:creationId xmlns:p14="http://schemas.microsoft.com/office/powerpoint/2010/main" val="1697186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11938-1777-1056-6955-8F11CFC13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Computer Vision?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D5C299-F7CC-E214-041E-3A4A3C674B96}"/>
              </a:ext>
            </a:extLst>
          </p:cNvPr>
          <p:cNvSpPr txBox="1"/>
          <p:nvPr/>
        </p:nvSpPr>
        <p:spPr>
          <a:xfrm>
            <a:off x="398278" y="1461789"/>
            <a:ext cx="11395443" cy="1291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Field of AI that enables machines to interpret and make decisions based on visual data.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Integrates image processing with machine learning models to analyze and understand visual information.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060FEE-C7EC-9690-7F5E-0447471E21D2}"/>
              </a:ext>
            </a:extLst>
          </p:cNvPr>
          <p:cNvSpPr txBox="1"/>
          <p:nvPr/>
        </p:nvSpPr>
        <p:spPr>
          <a:xfrm>
            <a:off x="398279" y="2833389"/>
            <a:ext cx="6767632" cy="3092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/>
              <a:t>Applications in the Real World: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/>
              <a:t>Autonomous Vehicles</a:t>
            </a:r>
            <a:r>
              <a:rPr lang="en-IN" sz="1600" dirty="0"/>
              <a:t>: Detect pedestrians, signs, and obstacles for safe navigation (e.g., Tesla).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/>
              <a:t>Healthcare</a:t>
            </a:r>
            <a:r>
              <a:rPr lang="en-IN" sz="1600" dirty="0"/>
              <a:t>: Diagnose diseases from X-rays, MRIs, etc. (e.g., detecting lung cancer).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/>
              <a:t>Retail</a:t>
            </a:r>
            <a:r>
              <a:rPr lang="en-IN" sz="1600" dirty="0"/>
              <a:t>: Automated checkouts, product tracking (e.g., Amazon Go).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/>
              <a:t>Security</a:t>
            </a:r>
            <a:r>
              <a:rPr lang="en-IN" sz="1600" dirty="0"/>
              <a:t>: Face recognition for unlocking devices and access control (e.g., Apple Face ID).</a:t>
            </a:r>
          </a:p>
        </p:txBody>
      </p:sp>
      <p:pic>
        <p:nvPicPr>
          <p:cNvPr id="6" name="Picture 5" descr="A car on a street&#10;&#10;Description automatically generated">
            <a:extLst>
              <a:ext uri="{FF2B5EF4-FFF2-40B4-BE49-F238E27FC236}">
                <a16:creationId xmlns:a16="http://schemas.microsoft.com/office/drawing/2014/main" id="{52EB0418-2DFF-6736-2957-88D9B8E66F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5911" y="2447145"/>
            <a:ext cx="3862873" cy="38628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73966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11938-1777-1056-6955-8F11CFC13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Image Representation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D5C299-F7CC-E214-041E-3A4A3C674B96}"/>
              </a:ext>
            </a:extLst>
          </p:cNvPr>
          <p:cNvSpPr txBox="1"/>
          <p:nvPr/>
        </p:nvSpPr>
        <p:spPr>
          <a:xfrm>
            <a:off x="398278" y="1461789"/>
            <a:ext cx="11395443" cy="460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Digital Image: </a:t>
            </a:r>
            <a:r>
              <a:rPr lang="en-US" dirty="0"/>
              <a:t>A 2D grid of pixels, each representing the intensity or color at that point.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060FEE-C7EC-9690-7F5E-0447471E21D2}"/>
              </a:ext>
            </a:extLst>
          </p:cNvPr>
          <p:cNvSpPr txBox="1"/>
          <p:nvPr/>
        </p:nvSpPr>
        <p:spPr>
          <a:xfrm>
            <a:off x="398278" y="2147994"/>
            <a:ext cx="6767632" cy="411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/>
              <a:t>Types of Image Representations: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Grayscale: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Each pixel is a shade of gray (0 = black, 255 = white).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Simplifies image analysis and reduces computation.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RGB (Red, Green, Blue)</a:t>
            </a:r>
            <a:r>
              <a:rPr lang="en-IN" sz="1600" dirty="0"/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Color images with three channels for Red, Green, and Blue values.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Each pixel stores three values (R, G, B), making up a wide range of colors.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HSV (Hue, Saturation, Value)</a:t>
            </a:r>
            <a:r>
              <a:rPr lang="en-US" sz="1600" dirty="0"/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Separates color information (Hue) from intensity (Value), often used in color-based processing.</a:t>
            </a:r>
            <a:endParaRPr lang="en-IN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9D4738-CF0F-96B0-BF84-8FB6A8313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757" y="1964609"/>
            <a:ext cx="4343910" cy="448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60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11938-1777-1056-6955-8F11CFC13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Workflow</a:t>
            </a:r>
          </a:p>
        </p:txBody>
      </p:sp>
      <p:pic>
        <p:nvPicPr>
          <p:cNvPr id="8" name="Picture 7" descr="A diagram of a level&#10;&#10;Description automatically generated">
            <a:extLst>
              <a:ext uri="{FF2B5EF4-FFF2-40B4-BE49-F238E27FC236}">
                <a16:creationId xmlns:a16="http://schemas.microsoft.com/office/drawing/2014/main" id="{D08B9D00-0E2C-1264-CA16-97204E21DE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2" t="3158" r="14412" b="16741"/>
          <a:stretch/>
        </p:blipFill>
        <p:spPr>
          <a:xfrm>
            <a:off x="600075" y="1944191"/>
            <a:ext cx="6324600" cy="35528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01E1E01-BBF4-3747-CDB0-34A375995894}"/>
              </a:ext>
            </a:extLst>
          </p:cNvPr>
          <p:cNvSpPr txBox="1"/>
          <p:nvPr/>
        </p:nvSpPr>
        <p:spPr>
          <a:xfrm>
            <a:off x="6924675" y="1620413"/>
            <a:ext cx="4883216" cy="4200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Low-Level: </a:t>
            </a:r>
            <a:r>
              <a:rPr lang="en-US" dirty="0"/>
              <a:t>Includes basic tasks to prepare the image for analysis.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Mid-Level: </a:t>
            </a:r>
            <a:r>
              <a:rPr lang="en-US" dirty="0"/>
              <a:t>Focuses on tasks to identify meaningful objects within the image.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High-Level: </a:t>
            </a:r>
            <a:r>
              <a:rPr lang="en-US" dirty="0"/>
              <a:t>Understanding the overall scene and extracting semantics, enabling the system to interpret the image contextually.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7702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11938-1777-1056-6955-8F11CFC13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Thresholding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720C1E-6F5E-ED74-36DD-69022ECE1B39}"/>
              </a:ext>
            </a:extLst>
          </p:cNvPr>
          <p:cNvSpPr txBox="1"/>
          <p:nvPr/>
        </p:nvSpPr>
        <p:spPr>
          <a:xfrm>
            <a:off x="398278" y="1368483"/>
            <a:ext cx="113954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What is Thresholding?</a:t>
            </a:r>
          </a:p>
          <a:p>
            <a:r>
              <a:rPr lang="en-US" sz="1600" dirty="0"/>
              <a:t>Thresholding divides an image into regions based on pixel intensity, separating important features from the background.</a:t>
            </a:r>
            <a:endParaRPr lang="en-IN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4CCE25-43A7-7594-5D22-A13DDAD4BB72}"/>
              </a:ext>
            </a:extLst>
          </p:cNvPr>
          <p:cNvSpPr txBox="1"/>
          <p:nvPr/>
        </p:nvSpPr>
        <p:spPr>
          <a:xfrm>
            <a:off x="398278" y="2275631"/>
            <a:ext cx="113954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Types</a:t>
            </a:r>
            <a:r>
              <a:rPr lang="en-US" sz="16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Global Thresholding</a:t>
            </a:r>
            <a:r>
              <a:rPr lang="en-US" sz="1600" dirty="0"/>
              <a:t>: Applies a fixed threshold value across the entire image.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Adaptive Thresholding</a:t>
            </a:r>
            <a:r>
              <a:rPr lang="en-US" sz="1600" dirty="0"/>
              <a:t>: Applies varying thresholds based on local regions.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Otsu’s Method</a:t>
            </a:r>
            <a:r>
              <a:rPr lang="en-US" sz="1600" dirty="0"/>
              <a:t>: Automatically finds the optimal threshold by minimizing intra-class variance.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1240A2-116C-172E-9A88-BF2C724B9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78" y="3495406"/>
            <a:ext cx="7675789" cy="275242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FDB4052-0022-07A0-3F98-A469CAA81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8023" y="3495406"/>
            <a:ext cx="3458180" cy="27524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888F87A-15A2-CA08-3945-636D6B7DB1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7077" y="2086470"/>
            <a:ext cx="3276644" cy="863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598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11938-1777-1056-6955-8F11CFC13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Filtering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4A929E-9A54-D252-A0AF-DDC8E69B3C5C}"/>
              </a:ext>
            </a:extLst>
          </p:cNvPr>
          <p:cNvSpPr txBox="1"/>
          <p:nvPr/>
        </p:nvSpPr>
        <p:spPr>
          <a:xfrm>
            <a:off x="398278" y="1368483"/>
            <a:ext cx="113954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Image Filtering: </a:t>
            </a:r>
          </a:p>
          <a:p>
            <a:r>
              <a:rPr lang="en-US" sz="1600" dirty="0"/>
              <a:t>Enhances or modifies images by emphasizing certain features, such as smoothing, sharpening, and edge detection.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2224BD-932D-93BD-1DE9-CFADFF9CA958}"/>
              </a:ext>
            </a:extLst>
          </p:cNvPr>
          <p:cNvSpPr txBox="1"/>
          <p:nvPr/>
        </p:nvSpPr>
        <p:spPr>
          <a:xfrm>
            <a:off x="398278" y="2124262"/>
            <a:ext cx="113954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Convolution: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Linear filtering </a:t>
            </a:r>
            <a:r>
              <a:rPr lang="en-US" sz="1600" dirty="0"/>
              <a:t>involves calculating the output pixel's value as a linear combination of the pixel values in its surrounding neighborhood.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Linear filtering is performed using a process called </a:t>
            </a:r>
            <a:r>
              <a:rPr lang="en-US" sz="1600" b="1" dirty="0"/>
              <a:t>convolution</a:t>
            </a:r>
            <a:r>
              <a:rPr lang="en-US" sz="1600" dirty="0"/>
              <a:t>, where each output pixel is the weighted sum of the neighboring input pixels.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weights are stored in a matrix known as the </a:t>
            </a:r>
            <a:r>
              <a:rPr lang="en-US" sz="1600" b="1" dirty="0"/>
              <a:t>convolution kernel</a:t>
            </a:r>
            <a:r>
              <a:rPr lang="en-US" sz="1600" dirty="0"/>
              <a:t> or filter.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E7E3AB-4933-E950-728E-4A18BF1AD256}"/>
              </a:ext>
            </a:extLst>
          </p:cNvPr>
          <p:cNvSpPr txBox="1"/>
          <p:nvPr/>
        </p:nvSpPr>
        <p:spPr>
          <a:xfrm>
            <a:off x="398278" y="3768567"/>
            <a:ext cx="609755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Common Filters: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 dirty="0"/>
              <a:t>Sobel Filter</a:t>
            </a:r>
            <a:r>
              <a:rPr lang="en-IN" sz="1600" dirty="0"/>
              <a:t>: Detects edges by computing gradients in the image.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 dirty="0"/>
              <a:t>Canny Filter</a:t>
            </a:r>
            <a:r>
              <a:rPr lang="en-IN" sz="1600" dirty="0"/>
              <a:t>: A multi-step algorithm for edge detection.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 dirty="0"/>
              <a:t>Gaussian Filter</a:t>
            </a:r>
            <a:r>
              <a:rPr lang="en-IN" sz="1600" dirty="0"/>
              <a:t>: Smooths images by averaging pixel values using a Gaussian kernel.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 dirty="0"/>
              <a:t>Median Filter</a:t>
            </a:r>
            <a:r>
              <a:rPr lang="en-IN" sz="1600" dirty="0"/>
              <a:t>: Removes noise by replacing each pixel with the median value of its neighbours.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442B9B-DAA3-A2DE-F35E-F5ACDB40B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107" y="3864926"/>
            <a:ext cx="5117560" cy="2280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330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11938-1777-1056-6955-8F11CFC13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Convolutional Neural Networks (CNNs)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4A929E-9A54-D252-A0AF-DDC8E69B3C5C}"/>
              </a:ext>
            </a:extLst>
          </p:cNvPr>
          <p:cNvSpPr txBox="1"/>
          <p:nvPr/>
        </p:nvSpPr>
        <p:spPr>
          <a:xfrm>
            <a:off x="398278" y="1368483"/>
            <a:ext cx="11395443" cy="789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CNNs</a:t>
            </a:r>
            <a:r>
              <a:rPr lang="en-US" sz="1600" dirty="0"/>
              <a:t> are one of the most powerful deep learning models, mainly used for image classification.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CNNs gained attention after </a:t>
            </a:r>
            <a:r>
              <a:rPr lang="en-US" sz="1600" b="1" dirty="0"/>
              <a:t>AlexNet</a:t>
            </a:r>
            <a:r>
              <a:rPr lang="en-US" sz="1600" dirty="0"/>
              <a:t> (2012) and further evolved to deeper models like </a:t>
            </a:r>
            <a:r>
              <a:rPr lang="en-US" sz="1600" b="1" dirty="0"/>
              <a:t>ResNet</a:t>
            </a:r>
            <a:r>
              <a:rPr lang="en-US" sz="1600" dirty="0"/>
              <a:t> (152 layers).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4DED02-D0C2-C6E6-E2C9-329817F96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649" y="4310295"/>
            <a:ext cx="7886700" cy="20383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6D2CC9-CB3D-C6D4-FCB4-0B0CFB557253}"/>
              </a:ext>
            </a:extLst>
          </p:cNvPr>
          <p:cNvSpPr txBox="1"/>
          <p:nvPr/>
        </p:nvSpPr>
        <p:spPr>
          <a:xfrm>
            <a:off x="398278" y="2285391"/>
            <a:ext cx="11395443" cy="1897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Input Image</a:t>
            </a:r>
            <a:r>
              <a:rPr lang="en-US" sz="1600" dirty="0"/>
              <a:t>: The raw input to the CNN (e.g., a 32x32 image).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Convolutional Layers</a:t>
            </a:r>
            <a:r>
              <a:rPr lang="en-US" sz="1600" dirty="0"/>
              <a:t>: Apply filters (kernels) to extract features like edges, textures, etc.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Pooling Layers</a:t>
            </a:r>
            <a:r>
              <a:rPr lang="en-US" sz="1600" dirty="0"/>
              <a:t>: Reduce feature map size, preventing overfitting and reducing computational cost.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Fully Connected Layers</a:t>
            </a:r>
            <a:r>
              <a:rPr lang="en-US" sz="1600" dirty="0"/>
              <a:t>: Final layers that combine features for classification.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Output Layer</a:t>
            </a:r>
            <a:r>
              <a:rPr lang="en-US" sz="1600" dirty="0"/>
              <a:t>: Often uses Softmax for multiclass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1292676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11938-1777-1056-6955-8F11CFC13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CNN Components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4A929E-9A54-D252-A0AF-DDC8E69B3C5C}"/>
              </a:ext>
            </a:extLst>
          </p:cNvPr>
          <p:cNvSpPr txBox="1"/>
          <p:nvPr/>
        </p:nvSpPr>
        <p:spPr>
          <a:xfrm>
            <a:off x="398278" y="1368483"/>
            <a:ext cx="7326497" cy="1897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/>
              <a:t>Convolution</a:t>
            </a:r>
            <a:r>
              <a:rPr lang="en-US" sz="1600" dirty="0"/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Convolutional Layer applies a filter (e.g., 3x3) to the input image.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Receptive Field: The region of the input covered by the filter at a time.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Output: Produces a feature map showing the presence of features at different locations.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6D53D5F-3D97-0120-DCF4-1FE1228FB7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77" t="14268" r="8240" b="13896"/>
          <a:stretch/>
        </p:blipFill>
        <p:spPr bwMode="auto">
          <a:xfrm>
            <a:off x="7747220" y="1335438"/>
            <a:ext cx="3911381" cy="1963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8E0F8FF8-F97D-7238-02EB-AF6C64C045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24" y="3584348"/>
            <a:ext cx="4905375" cy="287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F13D3B8F-CDB2-6D4A-0181-419F2498B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063" y="3584348"/>
            <a:ext cx="5364860" cy="287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3981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11938-1777-1056-6955-8F11CFC13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CNN Components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4A929E-9A54-D252-A0AF-DDC8E69B3C5C}"/>
              </a:ext>
            </a:extLst>
          </p:cNvPr>
          <p:cNvSpPr txBox="1"/>
          <p:nvPr/>
        </p:nvSpPr>
        <p:spPr>
          <a:xfrm>
            <a:off x="398277" y="1368483"/>
            <a:ext cx="569772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Stride &amp; Padding: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Stride</a:t>
            </a:r>
            <a:r>
              <a:rPr lang="en-US" sz="1600" dirty="0"/>
              <a:t>: Controls how the filter moves across the input image. Larger strides result in smaller feature maps.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Padding</a:t>
            </a:r>
            <a:r>
              <a:rPr lang="en-US" sz="1600" dirty="0"/>
              <a:t>: Adds extra pixels around the input to maintain the output size.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469591-CD54-1246-C100-8CDA5AC123CF}"/>
              </a:ext>
            </a:extLst>
          </p:cNvPr>
          <p:cNvSpPr txBox="1"/>
          <p:nvPr/>
        </p:nvSpPr>
        <p:spPr>
          <a:xfrm>
            <a:off x="398277" y="3098140"/>
            <a:ext cx="569772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Pooling: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Max Pooling</a:t>
            </a:r>
            <a:r>
              <a:rPr lang="en-US" sz="1600" dirty="0"/>
              <a:t>: Reduces the size of the feature map by keeping the maximum value in each window.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Reduces dimensions while preserving important information..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242379-3BD3-6E4F-11CC-E1CF44BFD20F}"/>
              </a:ext>
            </a:extLst>
          </p:cNvPr>
          <p:cNvSpPr txBox="1"/>
          <p:nvPr/>
        </p:nvSpPr>
        <p:spPr>
          <a:xfrm>
            <a:off x="398277" y="4827797"/>
            <a:ext cx="569772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Fully Connected Layers: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Convert the output from convolutional layers into a 1D vector for classification.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Final Step</a:t>
            </a:r>
            <a:r>
              <a:rPr lang="en-US" sz="1600" dirty="0"/>
              <a:t>: Fully connected layers handle the final decision-making for class labels.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FF5F64-D790-143C-5288-6C66D5AF1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327" y="4784719"/>
            <a:ext cx="3943349" cy="16335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64F984-9679-234A-F639-1A7C5FDB2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538" y="2979553"/>
            <a:ext cx="4636926" cy="169124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C69A9DB-BF58-E47B-605A-5FE76ED7A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9926" y="1192566"/>
            <a:ext cx="2652538" cy="1654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8D6CA70C-BC70-5EF5-CC1F-12C14B0DB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1236503"/>
            <a:ext cx="2439454" cy="1566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3499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11938-1777-1056-6955-8F11CFC13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Loss Function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8F010B9F-27DB-9371-C087-C3CF469A3DF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9168" y="1573699"/>
                <a:ext cx="5682342" cy="435133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IN" sz="1800" b="1" dirty="0"/>
                  <a:t>Cross Entropy</a:t>
                </a:r>
                <a:r>
                  <a:rPr lang="en-IN" sz="1800" dirty="0"/>
                  <a:t>: Measures the difference between the true labels and the predicted probabilities.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IN" sz="18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800" i="1" smtClean="0">
                          <a:latin typeface="Cambria Math" panose="02040503050406030204" pitchFamily="18" charset="0"/>
                        </a:rPr>
                        <m:t>− 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IN" sz="1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IN" sz="18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IN" sz="180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IN" sz="1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8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en-IN" sz="180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IN" sz="1800" i="1" smtClean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fName>
                            <m:e>
                              <m:r>
                                <a:rPr lang="en-IN" sz="180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IN" sz="180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18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sz="180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IN" sz="18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br>
                  <a:rPr lang="en-IN" sz="1800" dirty="0"/>
                </a:br>
                <a:r>
                  <a:rPr lang="en-IN" sz="1800" b="1" dirty="0"/>
                  <a:t>Binary Cross Entropy: </a:t>
                </a:r>
                <a:r>
                  <a:rPr lang="en-US" sz="1800" dirty="0"/>
                  <a:t>Used for </a:t>
                </a:r>
                <a:r>
                  <a:rPr lang="en-US" sz="1800" b="1" dirty="0"/>
                  <a:t>binary classification </a:t>
                </a:r>
                <a:r>
                  <a:rPr lang="en-US" sz="1800" dirty="0"/>
                  <a:t>(two classes)</a:t>
                </a:r>
                <a:br>
                  <a:rPr lang="en-IN" sz="1800" dirty="0"/>
                </a:br>
                <a:endParaRPr lang="en-IN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800" i="1">
                          <a:latin typeface="Cambria Math" panose="02040503050406030204" pitchFamily="18" charset="0"/>
                        </a:rPr>
                        <m:t>−(</m:t>
                      </m:r>
                      <m:r>
                        <a:rPr lang="en-IN" sz="1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I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sz="1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800" i="1">
                          <a:latin typeface="Cambria Math" panose="02040503050406030204" pitchFamily="18" charset="0"/>
                        </a:rPr>
                        <m:t>𝑙𝑜𝑔</m:t>
                      </m:r>
                      <m:r>
                        <a:rPr lang="en-IN" sz="1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800" i="1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I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sz="18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I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IN" sz="180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I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IN" sz="1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800" i="1"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en-I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I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IN" sz="1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1800" i="1" dirty="0"/>
              </a:p>
              <a:p>
                <a:pPr marL="0" indent="0">
                  <a:buNone/>
                </a:pPr>
                <a:endParaRPr lang="en-IN" sz="1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1800" b="1" dirty="0"/>
                      <m:t>Categorical</m:t>
                    </m:r>
                    <m:r>
                      <m:rPr>
                        <m:nor/>
                      </m:rPr>
                      <a:rPr lang="en-IN" sz="1800" b="1" dirty="0"/>
                      <m:t> </m:t>
                    </m:r>
                    <m:r>
                      <m:rPr>
                        <m:nor/>
                      </m:rPr>
                      <a:rPr lang="en-IN" sz="1800" b="1" dirty="0"/>
                      <m:t>Cross</m:t>
                    </m:r>
                    <m:r>
                      <m:rPr>
                        <m:nor/>
                      </m:rPr>
                      <a:rPr lang="en-IN" sz="1800" b="1" dirty="0"/>
                      <m:t> </m:t>
                    </m:r>
                    <m:r>
                      <m:rPr>
                        <m:nor/>
                      </m:rPr>
                      <a:rPr lang="en-IN" sz="1800" b="1" dirty="0"/>
                      <m:t>Entropy</m:t>
                    </m:r>
                  </m:oMath>
                </a14:m>
                <a:r>
                  <a:rPr lang="en-IN" sz="1800" dirty="0"/>
                  <a:t>: </a:t>
                </a:r>
                <a:r>
                  <a:rPr lang="en-US" sz="1800" dirty="0"/>
                  <a:t>Used for </a:t>
                </a:r>
                <a:r>
                  <a:rPr lang="en-US" sz="1800" b="1" dirty="0"/>
                  <a:t>multi-class classification </a:t>
                </a:r>
                <a:r>
                  <a:rPr lang="en-US" sz="1800" dirty="0"/>
                  <a:t>(more than two classes).</a:t>
                </a:r>
                <a:br>
                  <a:rPr lang="en-IN" sz="1800" dirty="0"/>
                </a:br>
                <a:br>
                  <a:rPr lang="en-IN" sz="1800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1800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IN" sz="1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𝑙𝑜𝑔</m:t>
                          </m:r>
                        </m:fName>
                        <m:e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I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IN" sz="1800" i="1" dirty="0"/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8F010B9F-27DB-9371-C087-C3CF469A3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168" y="1573699"/>
                <a:ext cx="5682342" cy="4351338"/>
              </a:xfrm>
              <a:prstGeom prst="rect">
                <a:avLst/>
              </a:prstGeom>
              <a:blipFill>
                <a:blip r:embed="rId2"/>
                <a:stretch>
                  <a:fillRect l="-9218" t="-4482" b="-1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B0436370-8081-C52D-4CFA-8AA40DE433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3" t="8611" r="2870" b="5690"/>
          <a:stretch/>
        </p:blipFill>
        <p:spPr>
          <a:xfrm>
            <a:off x="6096000" y="1287623"/>
            <a:ext cx="5526832" cy="153955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47104E9-1C4E-406D-128A-F333018748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14" t="9568" b="9272"/>
          <a:stretch/>
        </p:blipFill>
        <p:spPr>
          <a:xfrm>
            <a:off x="6905474" y="3064932"/>
            <a:ext cx="3907884" cy="114766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1108351-1CD8-3770-FC4B-946D839BCEC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198" t="11806" r="14198" b="17917"/>
          <a:stretch/>
        </p:blipFill>
        <p:spPr>
          <a:xfrm>
            <a:off x="7554260" y="4518982"/>
            <a:ext cx="2610313" cy="187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154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11938-1777-1056-6955-8F11CFC13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Transfer Learning</a:t>
            </a:r>
            <a:endParaRPr lang="en-IN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010B9F-27DB-9371-C087-C3CF469A3DFC}"/>
              </a:ext>
            </a:extLst>
          </p:cNvPr>
          <p:cNvSpPr txBox="1">
            <a:spLocks/>
          </p:cNvSpPr>
          <p:nvPr/>
        </p:nvSpPr>
        <p:spPr>
          <a:xfrm>
            <a:off x="569168" y="1573699"/>
            <a:ext cx="5682342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dirty="0"/>
              <a:t>Make use of the knowledge gained while solving one problem and applying it to a different but related problem. </a:t>
            </a:r>
          </a:p>
          <a:p>
            <a:r>
              <a:rPr lang="en-IN" sz="1800" dirty="0"/>
              <a:t>Can be used for feature extraction or fine-tuned for a custom dataset. 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9DFEAB7-59D8-782B-0B5C-FFD6CD358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549" y="3201592"/>
            <a:ext cx="5630692" cy="2949409"/>
          </a:xfrm>
          <a:prstGeom prst="rect">
            <a:avLst/>
          </a:prstGeom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B2A31846-70FD-C8A2-4574-9AEF81ECEE36}"/>
              </a:ext>
            </a:extLst>
          </p:cNvPr>
          <p:cNvGrpSpPr/>
          <p:nvPr/>
        </p:nvGrpSpPr>
        <p:grpSpPr>
          <a:xfrm>
            <a:off x="6241847" y="1516970"/>
            <a:ext cx="5895172" cy="4464796"/>
            <a:chOff x="6035438" y="1486524"/>
            <a:chExt cx="5895172" cy="4464796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E6838555-2BA7-D0AD-E80B-BD23FC245342}"/>
                </a:ext>
              </a:extLst>
            </p:cNvPr>
            <p:cNvCxnSpPr/>
            <p:nvPr/>
          </p:nvCxnSpPr>
          <p:spPr>
            <a:xfrm flipV="1">
              <a:off x="8069647" y="1802558"/>
              <a:ext cx="0" cy="4068417"/>
            </a:xfrm>
            <a:prstGeom prst="straightConnector1">
              <a:avLst/>
            </a:prstGeom>
            <a:ln w="76200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682DB64A-1F49-C4E1-D12E-1A207752A6E6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8069647" y="1821575"/>
              <a:ext cx="0" cy="4068417"/>
            </a:xfrm>
            <a:prstGeom prst="straightConnector1">
              <a:avLst/>
            </a:prstGeom>
            <a:ln w="76200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7FE5FD9-1F52-7DEC-DE9E-D290FC3A9840}"/>
                </a:ext>
              </a:extLst>
            </p:cNvPr>
            <p:cNvSpPr/>
            <p:nvPr/>
          </p:nvSpPr>
          <p:spPr>
            <a:xfrm>
              <a:off x="7054239" y="2047948"/>
              <a:ext cx="540000" cy="126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232706F-11DD-2B52-F907-85CD4E3490B7}"/>
                </a:ext>
              </a:extLst>
            </p:cNvPr>
            <p:cNvSpPr/>
            <p:nvPr/>
          </p:nvSpPr>
          <p:spPr>
            <a:xfrm>
              <a:off x="7054239" y="3401865"/>
              <a:ext cx="540000" cy="27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2F4A604-AE78-604C-C432-90D3EFA5094F}"/>
                </a:ext>
              </a:extLst>
            </p:cNvPr>
            <p:cNvSpPr/>
            <p:nvPr/>
          </p:nvSpPr>
          <p:spPr>
            <a:xfrm>
              <a:off x="8480464" y="2047948"/>
              <a:ext cx="540000" cy="1260000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D55E794-046E-55CC-D157-C76FC9CFE800}"/>
                </a:ext>
              </a:extLst>
            </p:cNvPr>
            <p:cNvSpPr/>
            <p:nvPr/>
          </p:nvSpPr>
          <p:spPr>
            <a:xfrm>
              <a:off x="8480464" y="3401865"/>
              <a:ext cx="540000" cy="27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464BC06-0714-BB98-5CE0-E928938EE8D7}"/>
                </a:ext>
              </a:extLst>
            </p:cNvPr>
            <p:cNvSpPr/>
            <p:nvPr/>
          </p:nvSpPr>
          <p:spPr>
            <a:xfrm>
              <a:off x="7054239" y="4049186"/>
              <a:ext cx="540000" cy="126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36E33F6-62AF-EEAF-91D6-F0FEA623DFA7}"/>
                </a:ext>
              </a:extLst>
            </p:cNvPr>
            <p:cNvSpPr/>
            <p:nvPr/>
          </p:nvSpPr>
          <p:spPr>
            <a:xfrm>
              <a:off x="7054239" y="5403103"/>
              <a:ext cx="540000" cy="27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D16317E-891C-05A0-1DC8-C809A965E264}"/>
                </a:ext>
              </a:extLst>
            </p:cNvPr>
            <p:cNvSpPr/>
            <p:nvPr/>
          </p:nvSpPr>
          <p:spPr>
            <a:xfrm>
              <a:off x="8480464" y="4049186"/>
              <a:ext cx="540000" cy="1260000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846C9B9-CCF0-0B18-07BD-F0FC85E44BD2}"/>
                </a:ext>
              </a:extLst>
            </p:cNvPr>
            <p:cNvSpPr/>
            <p:nvPr/>
          </p:nvSpPr>
          <p:spPr>
            <a:xfrm>
              <a:off x="8480464" y="5403103"/>
              <a:ext cx="540000" cy="27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944D465-3C50-A833-1311-B543AA01EC80}"/>
                </a:ext>
              </a:extLst>
            </p:cNvPr>
            <p:cNvSpPr/>
            <p:nvPr/>
          </p:nvSpPr>
          <p:spPr>
            <a:xfrm>
              <a:off x="8480464" y="3043363"/>
              <a:ext cx="540000" cy="27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E00B8F4-9732-EAC0-3515-36C9219C007A}"/>
                </a:ext>
              </a:extLst>
            </p:cNvPr>
            <p:cNvSpPr/>
            <p:nvPr/>
          </p:nvSpPr>
          <p:spPr>
            <a:xfrm>
              <a:off x="7054239" y="4052954"/>
              <a:ext cx="540000" cy="630000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8DC905A8-27AD-D551-CB89-136018C04736}"/>
                </a:ext>
              </a:extLst>
            </p:cNvPr>
            <p:cNvSpPr/>
            <p:nvPr/>
          </p:nvSpPr>
          <p:spPr>
            <a:xfrm>
              <a:off x="9861197" y="4969730"/>
              <a:ext cx="270000" cy="270000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5ED5AAE-BD2B-893D-0AB9-47A9EE41AC98}"/>
                </a:ext>
              </a:extLst>
            </p:cNvPr>
            <p:cNvSpPr/>
            <p:nvPr/>
          </p:nvSpPr>
          <p:spPr>
            <a:xfrm>
              <a:off x="9861197" y="5421049"/>
              <a:ext cx="270000" cy="27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AF061EB-C948-B37B-6128-3298DDF979E0}"/>
                </a:ext>
              </a:extLst>
            </p:cNvPr>
            <p:cNvSpPr txBox="1"/>
            <p:nvPr/>
          </p:nvSpPr>
          <p:spPr>
            <a:xfrm>
              <a:off x="10147336" y="4920064"/>
              <a:ext cx="8122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/>
                <a:t>Frozen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1280F44-B6DA-2AEA-830C-B246393F9E82}"/>
                </a:ext>
              </a:extLst>
            </p:cNvPr>
            <p:cNvSpPr txBox="1"/>
            <p:nvPr/>
          </p:nvSpPr>
          <p:spPr>
            <a:xfrm>
              <a:off x="10147337" y="5371383"/>
              <a:ext cx="930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/>
                <a:t>Trained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1CA06AE-E934-E435-446E-229FFC0C198B}"/>
                </a:ext>
              </a:extLst>
            </p:cNvPr>
            <p:cNvSpPr txBox="1"/>
            <p:nvPr/>
          </p:nvSpPr>
          <p:spPr>
            <a:xfrm>
              <a:off x="10068651" y="3652100"/>
              <a:ext cx="18619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/>
                <a:t>Dataset Similarity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5BC0208-D14B-15D3-BE0C-195461CE1DE7}"/>
                </a:ext>
              </a:extLst>
            </p:cNvPr>
            <p:cNvSpPr txBox="1"/>
            <p:nvPr/>
          </p:nvSpPr>
          <p:spPr>
            <a:xfrm>
              <a:off x="7138667" y="1486524"/>
              <a:ext cx="18619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/>
                <a:t>Dataset Size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85B7574-8DEF-AA07-6443-7FC2DC0B941B}"/>
                </a:ext>
              </a:extLst>
            </p:cNvPr>
            <p:cNvSpPr txBox="1"/>
            <p:nvPr/>
          </p:nvSpPr>
          <p:spPr>
            <a:xfrm>
              <a:off x="9081848" y="3959829"/>
              <a:ext cx="400110" cy="1872939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IN" sz="1400" dirty="0"/>
                <a:t>Freeze Conv Base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53EF613-E07B-B7C8-5AF2-900DFD793ED2}"/>
                </a:ext>
              </a:extLst>
            </p:cNvPr>
            <p:cNvSpPr txBox="1"/>
            <p:nvPr/>
          </p:nvSpPr>
          <p:spPr>
            <a:xfrm>
              <a:off x="9069217" y="1781898"/>
              <a:ext cx="615553" cy="1945874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IN" sz="1400" dirty="0"/>
                <a:t>Train some layers</a:t>
              </a:r>
            </a:p>
            <a:p>
              <a:r>
                <a:rPr lang="en-IN" sz="1400" dirty="0"/>
                <a:t>of Conv Base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EBA1333-B3E5-3688-1ECE-EE89736F04A8}"/>
                </a:ext>
              </a:extLst>
            </p:cNvPr>
            <p:cNvSpPr txBox="1"/>
            <p:nvPr/>
          </p:nvSpPr>
          <p:spPr>
            <a:xfrm>
              <a:off x="6247999" y="3888807"/>
              <a:ext cx="615553" cy="2062513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IN" sz="1400" dirty="0"/>
                <a:t>Freeze some layers</a:t>
              </a:r>
            </a:p>
            <a:p>
              <a:r>
                <a:rPr lang="en-IN" sz="1400" dirty="0"/>
                <a:t>of Conv Base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80EA0EA-5A25-56C9-776D-5DF653BD9621}"/>
                </a:ext>
              </a:extLst>
            </p:cNvPr>
            <p:cNvSpPr txBox="1"/>
            <p:nvPr/>
          </p:nvSpPr>
          <p:spPr>
            <a:xfrm>
              <a:off x="6219417" y="1832774"/>
              <a:ext cx="615553" cy="1813499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IN" sz="1400" dirty="0"/>
                <a:t>Train all layers from scratch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5191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11938-1777-1056-6955-8F11CFC13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4A929E-9A54-D252-A0AF-DDC8E69B3C5C}"/>
              </a:ext>
            </a:extLst>
          </p:cNvPr>
          <p:cNvSpPr txBox="1"/>
          <p:nvPr/>
        </p:nvSpPr>
        <p:spPr>
          <a:xfrm>
            <a:off x="398278" y="1368483"/>
            <a:ext cx="11395443" cy="3374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https://towardsdatascience.com/intuitively-understanding-convolutions-for-deep-learning-1f6f42faee1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https://sgugger.github.io/convolution-in-depth.html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https://towardsdatascience.com/applied-deep-learning-part-4-convolutional-neural-networks-584bc134c1e2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https://d2l.ai/chapter_convolutional-modern/index.html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https://poloclub.github.io/cnn-explainer/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https://blog.paperspace.com/writing-cnns-from-scratch-in-pytorch/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https://jovian.com/learn/deep-learning-with-pytorch-zero-to-gans/lesson/lesson-4-image-classification-with-cnn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https://learnopencv.com/getting-started-with-opencv/</a:t>
            </a:r>
          </a:p>
        </p:txBody>
      </p:sp>
    </p:spTree>
    <p:extLst>
      <p:ext uri="{BB962C8B-B14F-4D97-AF65-F5344CB8AC3E}">
        <p14:creationId xmlns:p14="http://schemas.microsoft.com/office/powerpoint/2010/main" val="3662316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6993" y="1776401"/>
            <a:ext cx="3711482" cy="363379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10416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ustom 5">
      <a:majorFont>
        <a:latin typeface="Roboto Slab"/>
        <a:ea typeface=""/>
        <a:cs typeface=""/>
      </a:majorFont>
      <a:minorFont>
        <a:latin typeface="Roboto Slab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3063</TotalTime>
  <Words>979</Words>
  <Application>Microsoft Office PowerPoint</Application>
  <PresentationFormat>Widescreen</PresentationFormat>
  <Paragraphs>103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Calibri</vt:lpstr>
      <vt:lpstr>Cambria Math</vt:lpstr>
      <vt:lpstr>Roboto Slab</vt:lpstr>
      <vt:lpstr>Arial</vt:lpstr>
      <vt:lpstr>Office Theme</vt:lpstr>
      <vt:lpstr>Computer Vision and Gen AI</vt:lpstr>
      <vt:lpstr>What is Computer Vision?</vt:lpstr>
      <vt:lpstr>Image Representation</vt:lpstr>
      <vt:lpstr>Workflow</vt:lpstr>
      <vt:lpstr>Thresholding</vt:lpstr>
      <vt:lpstr>Filtering</vt:lpstr>
      <vt:lpstr>Convolutional Neural Networks (CNNs)</vt:lpstr>
      <vt:lpstr>Key CNN Components</vt:lpstr>
      <vt:lpstr>Key CNN Components</vt:lpstr>
      <vt:lpstr>Loss Function</vt:lpstr>
      <vt:lpstr>Transfer Learning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RIZIANA KANI A-109-2023/24</cp:lastModifiedBy>
  <cp:revision>278</cp:revision>
  <dcterms:created xsi:type="dcterms:W3CDTF">2020-01-23T06:03:51Z</dcterms:created>
  <dcterms:modified xsi:type="dcterms:W3CDTF">2026-05-29T05:44:05Z</dcterms:modified>
</cp:coreProperties>
</file>